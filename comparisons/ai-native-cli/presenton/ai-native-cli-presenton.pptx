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the slide - The AI-Native CLI offers powerful tools enabling efficient, automation driven interactions across multiple systems through a focus on manual action based implementations and strategic task automation within a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{{__text|location:header_title;text:`Start`}}“, “required”: [“hacker – help levels”] }Первое раунд ответа ✅✅🌟}***  Explain the purpose of the “help-levels-1-3.png” file and verify that it does not contain any information required to validate its use within this configuration setup. Verify that 0 - 5 level tests are met for documentation verification. 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{Speaker note for the slide}  The second image provides information on WAF verification for future data handling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details how improved response quality drives automation. Optimizing against inaccuracies may need to be closely coupled with AI-driven learning methodologies in order”}}**  **required:** [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 Use the attached **syntax-recovery.png** as the main evidence. 修正需要仔细理解配置策略！”}This was created to show a real syntax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__speaker_note__:  I’ve outlined the core concepts of these principles to provide a foundation for any program development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{The callouts are arranged to create this dynamic visualization providing insights with key points or annotations. Each point appears sequentially} $|</a:t>
            </a:r>
          </a:p>
          <a:p>
            <a:r>
              <a:t>|</a:t>
            </a:r>
          </a:p>
          <a:p>
            <a:r>
              <a:t>Pleasure - User provided} $id: 123456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providing the description of this slide’s key aspects with information on tool relevance to workflow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the slide is provided here for this point. Check if you needs any change to your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__speaker_note__': “Speaker note for the slide”} ⁹⁵⁷⁶.  This is a split presentations layout with a prominent title text section, including stacked metric callsouts nested data points and highlighting of an image at the end the main visual.”}´️ ⟴️. This is a slide intended to showcase two key product areas - one for user interaction focusing on providing human-friendly content and another focused on providing support for AI models (structured, actionable errors) . It intends to present a visual,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{{ Speaker note: }} The content showcases the importance of shiping with the product. It underscores leveraging automation tools for better process workflows and agent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e56ebf4-b816-4d52-ba3a-eb31775697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77356"/>
            <a:ext cx="8145065" cy="3480643"/>
          </a:xfrm>
          <a:prstGeom prst="rect">
            <a:avLst/>
          </a:prstGeom>
        </p:spPr>
      </p:pic>
      <p:pic>
        <p:nvPicPr>
          <p:cNvPr id="3" name="Picture 2" descr="fec3a7b7-ace9-4425-83ad-1dbdc42ac5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65698"/>
            <a:ext cx="7616725" cy="3892301"/>
          </a:xfrm>
          <a:prstGeom prst="rect">
            <a:avLst/>
          </a:prstGeom>
        </p:spPr>
      </p:pic>
      <p:pic>
        <p:nvPicPr>
          <p:cNvPr id="4" name="Picture 3" descr="a524ae5f-7986-4c2e-9dec-7f5f9483c1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8140" y="0"/>
            <a:ext cx="6113859" cy="1913036"/>
          </a:xfrm>
          <a:prstGeom prst="rect">
            <a:avLst/>
          </a:prstGeom>
        </p:spPr>
      </p:pic>
      <p:pic>
        <p:nvPicPr>
          <p:cNvPr id="5" name="Picture 4" descr="5144efff-2343-418e-a577-db21edf364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9651" y="0"/>
            <a:ext cx="6642348" cy="15013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2070794"/>
            <a:ext cx="12211050" cy="2089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8000" b="1">
                <a:solidFill>
                  <a:srgbClr val="000000"/>
                </a:solidFill>
                <a:latin typeface="Anton"/>
              </a:defRPr>
            </a:pPr>
            <a:r>
              <a:rPr i="0" sz="8000" b="1">
                <a:solidFill>
                  <a:srgbClr val="000000"/>
                </a:solidFill>
                <a:latin typeface="Anton"/>
              </a:rPr>
              <a:t>AI-Native 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06290" y="4239517"/>
            <a:ext cx="6798319" cy="693092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defRPr spc="10" i="0" sz="1800" b="1">
                <a:solidFill>
                  <a:srgbClr val="000000"/>
                </a:solidFill>
                <a:latin typeface="Montserrat Semi"/>
              </a:defRPr>
            </a:pPr>
            <a:r>
              <a:rPr i="0" sz="1800" b="1">
                <a:solidFill>
                  <a:srgbClr val="000000"/>
                </a:solidFill>
                <a:latin typeface="Montserrat Semi"/>
              </a:rPr>
              <a:t>Give AI its own manual.  The core concept revolves around creating APIs for interactions, driving efficient,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9416" y="5995987"/>
            <a:ext cx="2187624" cy="176063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pc="27" i="0" sz="1066" b="0">
                <a:solidFill>
                  <a:srgbClr val="000000"/>
                </a:solidFill>
                <a:latin typeface="Montserrat"/>
              </a:defRPr>
            </a:pPr>
            <a:r>
              <a:rPr i="0" sz="1066" b="0">
                <a:solidFill>
                  <a:srgbClr val="000000"/>
                </a:solidFill>
                <a:latin typeface="Montserrat"/>
              </a:rPr>
              <a:t>Automated Task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9416" y="6193035"/>
            <a:ext cx="1007417" cy="22636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pc="8" i="0" sz="1333" b="1">
                <a:solidFill>
                  <a:srgbClr val="000000"/>
                </a:solidFill>
                <a:latin typeface="Montserrat"/>
              </a:defRPr>
            </a:pPr>
            <a:r>
              <a:rPr i="0" sz="1333" b="1">
                <a:solidFill>
                  <a:srgbClr val="000000"/>
                </a:solidFill>
                <a:latin typeface="Montserrat"/>
              </a:rPr>
              <a:t>Unidentified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2337" y="6003875"/>
            <a:ext cx="348406" cy="16028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23" i="0" sz="933" b="0">
                <a:solidFill>
                  <a:srgbClr val="000000"/>
                </a:solidFill>
                <a:latin typeface="Montserrat"/>
              </a:defRPr>
            </a:pPr>
            <a:r>
              <a:rPr i="0" sz="933" b="0">
                <a:solidFill>
                  <a:srgbClr val="000000"/>
                </a:solidFill>
                <a:latin typeface="Montserrat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78640" y="6221610"/>
            <a:ext cx="1352252" cy="176063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1">
                <a:solidFill>
                  <a:srgbClr val="000000"/>
                </a:solidFill>
                <a:latin typeface="Montserrat"/>
              </a:defRPr>
            </a:pPr>
            <a:r>
              <a:rPr i="0" sz="1066" b="1">
                <a:solidFill>
                  <a:srgbClr val="000000"/>
                </a:solidFill>
                <a:latin typeface="Montserrat"/>
              </a:rPr>
              <a:t>2026-07-24 T12:0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6b5cc45-ee9f-4dcc-a1c2-2ddfe2b2c7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282" y="3565475"/>
            <a:ext cx="7598717" cy="3292524"/>
          </a:xfrm>
          <a:prstGeom prst="rect">
            <a:avLst/>
          </a:prstGeom>
        </p:spPr>
      </p:pic>
      <p:pic>
        <p:nvPicPr>
          <p:cNvPr id="3" name="Picture 2" descr="ae5f9b38-69ce-43cb-952b-686566adb9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793" y="3153816"/>
            <a:ext cx="8127206" cy="3704183"/>
          </a:xfrm>
          <a:prstGeom prst="rect">
            <a:avLst/>
          </a:prstGeom>
        </p:spPr>
      </p:pic>
      <p:pic>
        <p:nvPicPr>
          <p:cNvPr id="4" name="Picture 3" descr="3b829012-b1e9-4608-afb8-13ed5d55c1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815607" cy="1856333"/>
          </a:xfrm>
          <a:prstGeom prst="rect">
            <a:avLst/>
          </a:prstGeom>
        </p:spPr>
      </p:pic>
      <p:pic>
        <p:nvPicPr>
          <p:cNvPr id="5" name="Picture 4" descr="153b4420-97ef-4084-9c0b-0da358cf11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5287119" cy="1444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7950" y="304800"/>
            <a:ext cx="10938123" cy="125506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7333" b="0">
                <a:solidFill>
                  <a:srgbClr val="000000"/>
                </a:solidFill>
                <a:latin typeface="Anton"/>
              </a:defRPr>
            </a:pPr>
            <a:r>
              <a:rPr i="0" sz="7333" b="0">
                <a:solidFill>
                  <a:srgbClr val="000000"/>
                </a:solidFill>
                <a:latin typeface="Anton"/>
              </a:rPr>
              <a:t>Help Levels -1 to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950" y="1784746"/>
            <a:ext cx="10309473" cy="30986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49600"/>
              </a:lnSpc>
              <a:defRPr spc="9" i="0" sz="1599" b="1">
                <a:solidFill>
                  <a:srgbClr val="000000"/>
                </a:solidFill>
                <a:latin typeface="Montserrat"/>
              </a:defRPr>
            </a:pPr>
            <a:r>
              <a:rPr i="0" sz="1599" b="1">
                <a:solidFill>
                  <a:srgbClr val="000000"/>
                </a:solidFill>
                <a:latin typeface="Montserrat"/>
              </a:rPr>
              <a:t>[help-levels-1-3.png](data:uri=url;file="help-levels-1-3.png";type = 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9690" y="6242298"/>
            <a:ext cx="601414" cy="17130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1">
                <a:solidFill>
                  <a:srgbClr val="000000"/>
                </a:solidFill>
                <a:latin typeface="Montserrat"/>
              </a:defRPr>
            </a:pPr>
            <a:r>
              <a:rPr i="0" sz="1066" b="1">
                <a:solidFill>
                  <a:srgbClr val="000000"/>
                </a:solidFill>
                <a:latin typeface="Montserrat"/>
              </a:rPr>
              <a:t>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2055" y="6242298"/>
            <a:ext cx="319236" cy="17130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0">
                <a:solidFill>
                  <a:srgbClr val="000000"/>
                </a:solidFill>
                <a:latin typeface="Montserrat"/>
              </a:defRPr>
            </a:pPr>
            <a:r>
              <a:rPr i="0" sz="1066" b="0">
                <a:solidFill>
                  <a:srgbClr val="000000"/>
                </a:solidFill>
                <a:latin typeface="Montserrat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16b743a-0f88-4803-9d69-aa7e614f59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0"/>
            <a:ext cx="6553200" cy="6858000"/>
          </a:xfrm>
          <a:prstGeom prst="rect">
            <a:avLst/>
          </a:prstGeom>
        </p:spPr>
      </p:pic>
      <p:pic>
        <p:nvPicPr>
          <p:cNvPr id="3" name="Picture 2" descr="62dfd9c0-a2fd-4d93-9f35-56e45b5042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53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7950" y="527000"/>
            <a:ext cx="4915048" cy="48894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79200"/>
              </a:lnSpc>
              <a:defRPr spc="-37" i="0" sz="4200" b="1">
                <a:solidFill>
                  <a:srgbClr val="000000"/>
                </a:solidFill>
                <a:latin typeface="Anton"/>
              </a:defRPr>
            </a:pPr>
            <a:r>
              <a:rPr i="0" sz="4200" b="1">
                <a:solidFill>
                  <a:srgbClr val="000000"/>
                </a:solidFill>
                <a:latin typeface="Anton"/>
              </a:rPr>
              <a:t>And it is still three more lookups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50" y="5458569"/>
            <a:ext cx="4894212" cy="76110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pc="8" i="0" sz="1333" b="0">
                <a:solidFill>
                  <a:srgbClr val="000000"/>
                </a:solidFill>
                <a:latin typeface="Montserrat"/>
              </a:defRPr>
            </a:pPr>
            <a:r>
              <a:rPr i="0" sz="1333" b="0">
                <a:solidFill>
                  <a:srgbClr val="000000"/>
                </a:solidFill>
                <a:latin typeface="Montserrat"/>
              </a:rPr>
              <a:t>Use the attached </a:t>
            </a:r>
            <a:r>
              <a:rPr i="0" sz="1333" b="1">
                <a:solidFill>
                  <a:srgbClr val="000000"/>
                </a:solidFill>
                <a:latin typeface="Montserrat"/>
              </a:rPr>
              <a:t>help-levels-4-6.png</a:t>
            </a:r>
            <a:r>
              <a:rPr i="0" sz="1333" b="0">
                <a:solidFill>
                  <a:srgbClr val="000000"/>
                </a:solidFill>
                <a:latin typeface="Montserrat"/>
              </a:rPr>
              <a:t> as the main evidence.  WAF policy, managed rule, and exclusion must still be inspected</a:t>
            </a:r>
          </a:p>
        </p:txBody>
      </p:sp>
      <p:pic>
        <p:nvPicPr>
          <p:cNvPr id="6" name="Picture 5" descr="f89d9fa5-3d96-4114-9fa2-ea04e15091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670" y="444400"/>
            <a:ext cx="5190380" cy="5812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59690" y="6242298"/>
            <a:ext cx="601414" cy="17130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1">
                <a:solidFill>
                  <a:srgbClr val="000000"/>
                </a:solidFill>
                <a:latin typeface="Montserrat"/>
              </a:defRPr>
            </a:pPr>
            <a:r>
              <a:rPr i="0" sz="1066" b="1">
                <a:solidFill>
                  <a:srgbClr val="000000"/>
                </a:solidFill>
                <a:latin typeface="Montserrat"/>
              </a:rPr>
              <a:t>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3714" y="6242298"/>
            <a:ext cx="319236" cy="17130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0">
                <a:solidFill>
                  <a:srgbClr val="000000"/>
                </a:solidFill>
                <a:latin typeface="Montserrat"/>
              </a:defRPr>
            </a:pPr>
            <a:r>
              <a:rPr i="0" sz="1066" b="0">
                <a:solidFill>
                  <a:srgbClr val="000000"/>
                </a:solidFill>
                <a:latin typeface="Montserrat"/>
              </a:rPr>
              <a:t>A-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b829012-b1e9-4608-afb8-13ed5d55c1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15607" cy="1856333"/>
          </a:xfrm>
          <a:prstGeom prst="rect">
            <a:avLst/>
          </a:prstGeom>
        </p:spPr>
      </p:pic>
      <p:pic>
        <p:nvPicPr>
          <p:cNvPr id="3" name="Picture 2" descr="153b4420-97ef-4084-9c0b-0da358cf11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287119" cy="14446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7950" y="501550"/>
            <a:ext cx="5829300" cy="1123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4000"/>
              </a:lnSpc>
              <a:defRPr spc="-41" i="0" sz="4199" b="1">
                <a:solidFill>
                  <a:srgbClr val="000000"/>
                </a:solidFill>
                <a:latin typeface="Anton"/>
              </a:defRPr>
            </a:pPr>
            <a:r>
              <a:rPr i="0" sz="4199" b="1">
                <a:solidFill>
                  <a:srgbClr val="000000"/>
                </a:solidFill>
                <a:latin typeface="Anton"/>
              </a:rPr>
              <a:t>Optimize Everything, Regardless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50" y="3924448"/>
            <a:ext cx="5148857" cy="103629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pc="5" i="0" sz="1333" b="0">
                <a:solidFill>
                  <a:srgbClr val="000000"/>
                </a:solidFill>
                <a:latin typeface="Montserrat"/>
              </a:defRPr>
            </a:pPr>
            <a:r>
              <a:rPr i="0" sz="1333" b="0">
                <a:solidFill>
                  <a:srgbClr val="000000"/>
                </a:solidFill>
                <a:latin typeface="Montserrat"/>
              </a:rPr>
              <a:t>Correct assessment is crucial for optimal accuracy. Let's focus on refining accuracy strategies to deliver relevant responses - ensuring precise understanding and anticipating future challenges.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50" y="5189339"/>
            <a:ext cx="5041106" cy="93121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pc="5" i="0" sz="1333" b="0">
                <a:solidFill>
                  <a:srgbClr val="000000"/>
                </a:solidFill>
                <a:latin typeface="Montserrat"/>
              </a:defRPr>
            </a:pPr>
            <a:r>
              <a:rPr i="0" sz="1333" b="0">
                <a:solidFill>
                  <a:srgbClr val="000000"/>
                </a:solidFill>
                <a:latin typeface="Montserrat"/>
              </a:rPr>
              <a:t>Automating everything involves a foundation of high-quality model training and constant refinement, so it’s vital that we prioritize quality across all parts, even seemingly small,</a:t>
            </a:r>
          </a:p>
        </p:txBody>
      </p:sp>
      <p:pic>
        <p:nvPicPr>
          <p:cNvPr id="7" name="Picture 6" descr="f89d9fa5-3d96-4114-9fa2-ea04e15091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670" y="444400"/>
            <a:ext cx="5190380" cy="58120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59690" y="6242298"/>
            <a:ext cx="601414" cy="17130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1">
                <a:solidFill>
                  <a:srgbClr val="000000"/>
                </a:solidFill>
                <a:latin typeface="Montserrat"/>
              </a:defRPr>
            </a:pPr>
            <a:r>
              <a:rPr i="0" sz="1066" b="1">
                <a:solidFill>
                  <a:srgbClr val="000000"/>
                </a:solidFill>
                <a:latin typeface="Montserrat"/>
              </a:rPr>
              <a:t>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2055" y="6242298"/>
            <a:ext cx="319236" cy="17130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0">
                <a:solidFill>
                  <a:srgbClr val="000000"/>
                </a:solidFill>
                <a:latin typeface="Montserrat"/>
              </a:defRPr>
            </a:pPr>
            <a:r>
              <a:rPr i="0" sz="1066" b="0">
                <a:solidFill>
                  <a:srgbClr val="000000"/>
                </a:solidFill>
                <a:latin typeface="Montserra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4825" y="495300"/>
            <a:ext cx="9829800" cy="6286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4000"/>
              </a:lnSpc>
              <a:defRPr spc="-41" i="0" sz="4200" b="0">
                <a:solidFill>
                  <a:srgbClr val="000000"/>
                </a:solidFill>
                <a:latin typeface="Anton"/>
              </a:defRPr>
            </a:pPr>
            <a:r>
              <a:rPr i="0" sz="4200" b="0">
                <a:solidFill>
                  <a:srgbClr val="000000"/>
                </a:solidFill>
                <a:latin typeface="Anton"/>
              </a:rPr>
              <a:t>The Model’s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825" y="1123950"/>
            <a:ext cx="9589740" cy="4762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pc="8" i="0" sz="1335" b="1">
                <a:solidFill>
                  <a:srgbClr val="000000"/>
                </a:solidFill>
                <a:latin typeface="Montserrat Medium"/>
              </a:defRPr>
            </a:pPr>
            <a:r>
              <a:rPr i="0" sz="1335" b="1">
                <a:solidFill>
                  <a:srgbClr val="000000"/>
                </a:solidFill>
                <a:latin typeface="Montserrat Medium"/>
              </a:rPr>
              <a:t>Understanding Syntax </a:t>
            </a:r>
            <a:r>
              <a:rPr i="0" sz="1335" b="1">
                <a:solidFill>
                  <a:srgbClr val="000000"/>
                </a:solidFill>
                <a:latin typeface="Montserrat Medium"/>
              </a:rPr>
              <a:t>&amp;</a:t>
            </a:r>
            <a:r>
              <a:rPr i="0" sz="1335" b="1">
                <a:solidFill>
                  <a:srgbClr val="000000"/>
                </a:solidFill>
                <a:latin typeface="Montserrat Medium"/>
              </a:rPr>
              <a:t> Recovery Mode”}Ridiculously confusing code can fail against a command contract with different syntax rules, prompting analysis and rebuilding plan. Fix this by</a:t>
            </a:r>
          </a:p>
        </p:txBody>
      </p:sp>
      <p:pic>
        <p:nvPicPr>
          <p:cNvPr id="4" name="Picture 3" descr="0b25c76a-9fc7-4433-a773-fe0fedea49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124075"/>
            <a:ext cx="2600325" cy="4733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50" y="2867025"/>
            <a:ext cx="1638002" cy="770632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pc="30" i="0" sz="5002" b="1">
                <a:solidFill>
                  <a:srgbClr val="000000"/>
                </a:solidFill>
                <a:latin typeface="Montserrat"/>
              </a:defRPr>
            </a:pPr>
            <a:r>
              <a:rPr i="0" sz="5002" b="1">
                <a:solidFill>
                  <a:srgbClr val="000000"/>
                </a:solidFill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4638675"/>
            <a:ext cx="2352675" cy="3048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pc="-6" i="0" sz="1597" b="1">
                <a:solidFill>
                  <a:srgbClr val="000000"/>
                </a:solidFill>
                <a:latin typeface="Montserrat Semi"/>
              </a:defRPr>
            </a:pPr>
            <a:r>
              <a:rPr i="0" sz="1597" b="1">
                <a:solidFill>
                  <a:srgbClr val="000000"/>
                </a:solidFill>
                <a:latin typeface="Montserrat Semi"/>
              </a:rPr>
              <a:t>Error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" y="4981575"/>
            <a:ext cx="2305050" cy="742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pc="5" i="0" sz="930" b="0">
                <a:solidFill>
                  <a:srgbClr val="000000"/>
                </a:solidFill>
                <a:latin typeface="Montserrat"/>
              </a:defRPr>
            </a:pPr>
            <a:r>
              <a:rPr i="0" sz="930" b="0">
                <a:solidFill>
                  <a:srgbClr val="000000"/>
                </a:solidFill>
                <a:latin typeface="Montserrat"/>
              </a:rPr>
              <a:t>The agent faced difficult configuration - fixing complex issues requires deep understanding and recovery mode.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150" y="6229350"/>
            <a:ext cx="609600" cy="1809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4" b="1">
                <a:solidFill>
                  <a:srgbClr val="000000"/>
                </a:solidFill>
                <a:latin typeface="Montserrat"/>
              </a:defRPr>
            </a:pPr>
            <a:r>
              <a:rPr i="0" sz="1064" b="1">
                <a:solidFill>
                  <a:srgbClr val="000000"/>
                </a:solidFill>
                <a:latin typeface="Montserrat"/>
              </a:rPr>
              <a:t>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9025" y="6229350"/>
            <a:ext cx="323850" cy="1809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4" b="0">
                <a:solidFill>
                  <a:srgbClr val="000000"/>
                </a:solidFill>
                <a:latin typeface="Montserrat"/>
              </a:defRPr>
            </a:pPr>
            <a:r>
              <a:rPr i="0" sz="1064" b="0">
                <a:solidFill>
                  <a:srgbClr val="000000"/>
                </a:solidFill>
                <a:latin typeface="Montserra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7950" y="501550"/>
            <a:ext cx="5574506" cy="76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4000"/>
              </a:lnSpc>
              <a:defRPr spc="-41" i="0" sz="4199" b="1">
                <a:solidFill>
                  <a:srgbClr val="000000"/>
                </a:solidFill>
                <a:latin typeface="Anton"/>
              </a:defRPr>
            </a:pPr>
            <a:r>
              <a:rPr i="0" sz="4199" b="1">
                <a:solidFill>
                  <a:srgbClr val="000000"/>
                </a:solidFill>
                <a:latin typeface="Anton"/>
              </a:rPr>
              <a:t>Understanding Data Structures Principles – A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50" y="1899195"/>
            <a:ext cx="5117306" cy="409098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pc="8" i="0" sz="1333" b="1">
                <a:solidFill>
                  <a:srgbClr val="000000"/>
                </a:solidFill>
                <a:latin typeface="Montserrat Medium"/>
              </a:defRPr>
            </a:pPr>
            <a:r>
              <a:rPr i="0" sz="1333" b="1">
                <a:solidFill>
                  <a:srgbClr val="000000"/>
                </a:solidFill>
                <a:latin typeface="Montserrat Medium"/>
              </a:rPr>
              <a:t>The core concepts of data structures form the foundation for efficient programming and algorithmic problem solving.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0" y="447675"/>
            <a:ext cx="5459164" cy="1744860"/>
          </a:xfrm>
          <a:prstGeom prst="roundRect">
            <a:avLst>
              <a:gd name="adj" fmla="val 19652"/>
            </a:avLst>
          </a:prstGeom>
          <a:solidFill>
            <a:srgbClr val="F7F6F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2795cb09-4780-4ad7-8882-9fc3777700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723900"/>
            <a:ext cx="216991" cy="2245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19850" y="1162050"/>
            <a:ext cx="4417665" cy="28828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pc="-6" i="0" sz="1599" b="1">
                <a:solidFill>
                  <a:srgbClr val="000000"/>
                </a:solidFill>
                <a:latin typeface="Montserrat Semi"/>
              </a:defRPr>
            </a:pPr>
            <a:r>
              <a:rPr i="0" sz="1599" b="1">
                <a:solidFill>
                  <a:srgbClr val="000000"/>
                </a:solidFill>
                <a:latin typeface="Montserrat Semi"/>
              </a:rPr>
              <a:t>Algorithms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850" y="1557337"/>
            <a:ext cx="4837807" cy="1011733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pc="5" i="0" sz="933" b="0">
                <a:solidFill>
                  <a:srgbClr val="000000"/>
                </a:solidFill>
                <a:latin typeface="Montserrat"/>
              </a:defRPr>
            </a:pPr>
            <a:r>
              <a:rPr i="0" sz="933" b="0">
                <a:solidFill>
                  <a:srgbClr val="000000"/>
                </a:solidFill>
                <a:latin typeface="Montserrat"/>
              </a:rPr>
              <a:t>A brief overview of key algorithms used in computer science: sorting, searching...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30954" y="6237982"/>
            <a:ext cx="601414" cy="17130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1">
                <a:solidFill>
                  <a:srgbClr val="000000"/>
                </a:solidFill>
                <a:latin typeface="Montserrat"/>
              </a:defRPr>
            </a:pPr>
            <a:r>
              <a:rPr i="0" sz="1066" b="1">
                <a:solidFill>
                  <a:srgbClr val="000000"/>
                </a:solidFill>
                <a:latin typeface="Montserrat"/>
              </a:rPr>
              <a:t>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4829" y="6237982"/>
            <a:ext cx="319236" cy="17130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0">
                <a:solidFill>
                  <a:srgbClr val="000000"/>
                </a:solidFill>
                <a:latin typeface="Montserrat"/>
              </a:defRPr>
            </a:pPr>
            <a:r>
              <a:rPr i="0" sz="1066" b="0">
                <a:solidFill>
                  <a:srgbClr val="000000"/>
                </a:solidFill>
                <a:latin typeface="Montserra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9750" y="501550"/>
            <a:ext cx="8591550" cy="11620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2400"/>
              </a:lnSpc>
              <a:defRPr spc="-41" i="0" sz="3900" b="1">
                <a:solidFill>
                  <a:srgbClr val="000000"/>
                </a:solidFill>
                <a:latin typeface="Anton"/>
              </a:defRPr>
            </a:pPr>
            <a:r>
              <a:rPr i="0" sz="3900" b="1">
                <a:solidFill>
                  <a:srgbClr val="000000"/>
                </a:solidFill>
                <a:latin typeface="Anton"/>
              </a:rPr>
              <a:t>Callouts </a:t>
            </a:r>
            <a:r>
              <a:rPr i="0" sz="3900" b="1">
                <a:solidFill>
                  <a:srgbClr val="000000"/>
                </a:solidFill>
                <a:latin typeface="Anton"/>
              </a:rPr>
              <a:t>&amp;</a:t>
            </a:r>
            <a:r>
              <a:rPr i="0" sz="3900" b="1">
                <a:solidFill>
                  <a:srgbClr val="000000"/>
                </a:solidFill>
                <a:latin typeface="Anton"/>
              </a:rPr>
              <a:t> Footers - Recurring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40768" y="1755576"/>
            <a:ext cx="7529214" cy="61287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defRPr spc="8" i="0" sz="1333" b="1">
                <a:solidFill>
                  <a:srgbClr val="000000"/>
                </a:solidFill>
                <a:latin typeface="Montserrat Medium"/>
              </a:defRPr>
            </a:pPr>
            <a:r>
              <a:rPr i="0" sz="1333" b="1">
                <a:solidFill>
                  <a:srgbClr val="000000"/>
                </a:solidFill>
                <a:latin typeface="Montserrat Medium"/>
              </a:rPr>
              <a:t>Dynamic Timeline Visualization for Key Events and Annotations</a:t>
            </a:r>
          </a:p>
          <a:p>
            <a:pPr algn="ctr">
              <a:lnSpc>
                <a:spcPct val="112000"/>
              </a:lnSpc>
              <a:defRPr spc="8" i="0" sz="1333" b="1">
                <a:solidFill>
                  <a:srgbClr val="000000"/>
                </a:solidFill>
                <a:latin typeface="Montserrat Medium"/>
              </a:defRPr>
            </a:pPr>
            <a:r>
              <a:rPr i="0" sz="1333" b="1">
                <a:solidFill>
                  <a:srgbClr val="000000"/>
                </a:solidFill>
                <a:latin typeface="Montserrat Medium"/>
              </a:rPr>
              <a:t>|</a:t>
            </a:r>
          </a:p>
          <a:p>
            <a:pPr algn="ctr">
              <a:lnSpc>
                <a:spcPct val="112000"/>
              </a:lnSpc>
              <a:defRPr spc="8" i="0" sz="1333" b="1">
                <a:solidFill>
                  <a:srgbClr val="000000"/>
                </a:solidFill>
                <a:latin typeface="Montserrat Medium"/>
              </a:defRPr>
            </a:pPr>
            <a:r>
              <a:rPr i="0" sz="1333" b="1">
                <a:solidFill>
                  <a:srgbClr val="000000"/>
                </a:solidFill>
                <a:latin typeface="Montserrat Medium"/>
              </a:rPr>
              <a:t>|</a:t>
            </a:r>
          </a:p>
          <a:p>
            <a:pPr algn="ctr">
              <a:lnSpc>
                <a:spcPct val="112000"/>
              </a:lnSpc>
              <a:defRPr spc="8" i="0" sz="1333" b="1">
                <a:solidFill>
                  <a:srgbClr val="000000"/>
                </a:solidFill>
                <a:latin typeface="Montserrat Medium"/>
              </a:defRPr>
            </a:pPr>
            <a:r>
              <a:rPr i="0" sz="1333" b="1">
                <a:solidFill>
                  <a:srgbClr val="000000"/>
                </a:solidFill>
                <a:latin typeface="Montserrat Medium"/>
              </a:rPr>
              <a:t>Link: [https://example.xyz](https://example.xyz)</a:t>
            </a:r>
          </a:p>
        </p:txBody>
      </p:sp>
      <p:pic>
        <p:nvPicPr>
          <p:cNvPr id="4" name="Picture 3" descr="3541238b-52a3-4e3b-ab3d-05f0bb9ca1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067" y="3114079"/>
            <a:ext cx="8915400" cy="1211907"/>
          </a:xfrm>
          <a:prstGeom prst="rect">
            <a:avLst/>
          </a:prstGeom>
        </p:spPr>
      </p:pic>
      <p:pic>
        <p:nvPicPr>
          <p:cNvPr id="5" name="Picture 4" descr="69026646-f150-43e7-883a-b2e165c5f0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030" y="2958554"/>
            <a:ext cx="303758" cy="304800"/>
          </a:xfrm>
          <a:prstGeom prst="rect">
            <a:avLst/>
          </a:prstGeom>
        </p:spPr>
      </p:pic>
      <p:pic>
        <p:nvPicPr>
          <p:cNvPr id="6" name="Picture 5" descr="69026646-f150-43e7-883a-b2e165c5f0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913" y="2902892"/>
            <a:ext cx="303758" cy="304800"/>
          </a:xfrm>
          <a:prstGeom prst="rect">
            <a:avLst/>
          </a:prstGeom>
        </p:spPr>
      </p:pic>
      <p:pic>
        <p:nvPicPr>
          <p:cNvPr id="7" name="Picture 6" descr="69026646-f150-43e7-883a-b2e165c5f0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967" y="4028628"/>
            <a:ext cx="303758" cy="304800"/>
          </a:xfrm>
          <a:prstGeom prst="rect">
            <a:avLst/>
          </a:prstGeom>
        </p:spPr>
      </p:pic>
      <p:pic>
        <p:nvPicPr>
          <p:cNvPr id="8" name="Picture 7" descr="69026646-f150-43e7-883a-b2e165c5f0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465" y="4028628"/>
            <a:ext cx="303758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7950" y="3723530"/>
            <a:ext cx="2166491" cy="28828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pc="-6" i="0" sz="1599" b="1">
                <a:solidFill>
                  <a:srgbClr val="000000"/>
                </a:solidFill>
                <a:latin typeface="Montserrat"/>
              </a:defRPr>
            </a:pPr>
            <a:r>
              <a:rPr i="0" sz="1599" b="1">
                <a:solidFill>
                  <a:srgbClr val="000000"/>
                </a:solidFill>
                <a:latin typeface="Montserrat"/>
              </a:rPr>
              <a:t>Call Out 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651" y="4013894"/>
            <a:ext cx="2066329" cy="94684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pc="6" i="0" sz="1066" b="1">
                <a:solidFill>
                  <a:srgbClr val="000000"/>
                </a:solidFill>
                <a:latin typeface="Montserrat Medium"/>
              </a:defRPr>
            </a:pPr>
            <a:r>
              <a:rPr i="0" sz="1066" b="1">
                <a:solidFill>
                  <a:srgbClr val="000000"/>
                </a:solidFill>
                <a:latin typeface="Montserrat Medium"/>
              </a:rPr>
              <a:t>A dynamic timeline to display the key events, and annotation of all 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294" y="4495948"/>
            <a:ext cx="2505372" cy="27711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pc="-6" i="0" sz="1599" b="1">
                <a:solidFill>
                  <a:srgbClr val="000000"/>
                </a:solidFill>
                <a:latin typeface="Montserrat"/>
              </a:defRPr>
            </a:pPr>
            <a:r>
              <a:rPr i="0" sz="1599" b="1">
                <a:solidFill>
                  <a:srgbClr val="000000"/>
                </a:solidFill>
                <a:latin typeface="Montserrat"/>
              </a:rPr>
              <a:t>Key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1738" y="4837211"/>
            <a:ext cx="2456110" cy="103629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pc="6" i="0" sz="1066" b="1">
                <a:solidFill>
                  <a:srgbClr val="000000"/>
                </a:solidFill>
                <a:latin typeface="Montserrat Medium"/>
              </a:defRPr>
            </a:pPr>
            <a:r>
              <a:rPr i="0" sz="1066" b="1">
                <a:solidFill>
                  <a:srgbClr val="000000"/>
                </a:solidFill>
                <a:latin typeface="Montserrat Medium"/>
              </a:rPr>
              <a:t>Each label will be displayed sequentially based on their location within the view and a short description will appear beside it.</a:t>
            </a:r>
          </a:p>
          <a:p>
            <a:pPr>
              <a:lnSpc>
                <a:spcPct val="120000"/>
              </a:lnSpc>
              <a:defRPr spc="6" i="0" sz="1066" b="1">
                <a:solidFill>
                  <a:srgbClr val="000000"/>
                </a:solidFill>
                <a:latin typeface="Montserrat Medium"/>
              </a:defRPr>
            </a:pPr>
            <a:r>
              <a:rPr i="0" sz="1066" b="1">
                <a:solidFill>
                  <a:srgbClr val="000000"/>
                </a:solidFill>
                <a:latin typeface="Montserrat Medium"/>
              </a:rPr>
              <a:t>|</a:t>
            </a:r>
          </a:p>
          <a:p>
            <a:pPr>
              <a:lnSpc>
                <a:spcPct val="120000"/>
              </a:lnSpc>
              <a:defRPr spc="6" i="0" sz="1066" b="1">
                <a:solidFill>
                  <a:srgbClr val="000000"/>
                </a:solidFill>
                <a:latin typeface="Montserrat Medium"/>
              </a:defRPr>
            </a:pPr>
            <a:r>
              <a:rPr i="0" sz="1066" b="1">
                <a:solidFill>
                  <a:srgbClr val="000000"/>
                </a:solidFill>
                <a:latin typeface="Montserrat Medium"/>
              </a:rPr>
              <a:t>|</a:t>
            </a:r>
          </a:p>
          <a:p>
            <a:pPr>
              <a:lnSpc>
                <a:spcPct val="120000"/>
              </a:lnSpc>
              <a:defRPr spc="6" i="0" sz="1066" b="1">
                <a:solidFill>
                  <a:srgbClr val="000000"/>
                </a:solidFill>
                <a:latin typeface="Montserrat Medium"/>
              </a:defRPr>
            </a:pPr>
            <a:r>
              <a:rPr i="0" sz="1066" b="1">
                <a:solidFill>
                  <a:srgbClr val="000000"/>
                </a:solidFill>
                <a:latin typeface="Montserrat Medium"/>
              </a:rPr>
              <a:t>Link: [https://example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0637" y="4495948"/>
            <a:ext cx="2454175" cy="27711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pc="-6" i="0" sz="1599" b="1">
                <a:solidFill>
                  <a:srgbClr val="000000"/>
                </a:solidFill>
                <a:latin typeface="Montserrat"/>
              </a:defRPr>
            </a:pPr>
            <a:r>
              <a:rPr i="0" sz="1599" b="1">
                <a:solidFill>
                  <a:srgbClr val="000000"/>
                </a:solidFill>
                <a:latin typeface="Montserrat"/>
              </a:rPr>
              <a:t>Significant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0637" y="4869805"/>
            <a:ext cx="2358628" cy="97140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pc="6" i="0" sz="1066" b="1">
                <a:solidFill>
                  <a:srgbClr val="000000"/>
                </a:solidFill>
                <a:latin typeface="Montserrat Medium"/>
              </a:defRPr>
            </a:pPr>
            <a:r>
              <a:rPr i="0" sz="1066" b="1">
                <a:solidFill>
                  <a:srgbClr val="000000"/>
                </a:solidFill>
                <a:latin typeface="Montserrat Medium"/>
              </a:rPr>
              <a:t>Key events that define significance for understanding or highlighting key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9613" y="3734692"/>
            <a:ext cx="2245518" cy="27711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pc="-6" i="0" sz="1599" b="1">
                <a:solidFill>
                  <a:srgbClr val="000000"/>
                </a:solidFill>
                <a:latin typeface="Montserrat"/>
              </a:defRPr>
            </a:pPr>
            <a:r>
              <a:rPr i="0" sz="1599" b="1">
                <a:solidFill>
                  <a:srgbClr val="000000"/>
                </a:solidFill>
                <a:latin typeface="Montserrat"/>
              </a:rPr>
              <a:t>Details On 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9613" y="4108549"/>
            <a:ext cx="2207121" cy="105801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pc="6" i="0" sz="1066" b="1">
                <a:solidFill>
                  <a:srgbClr val="000000"/>
                </a:solidFill>
                <a:latin typeface="Montserrat Medium"/>
              </a:defRPr>
            </a:pPr>
            <a:r>
              <a:rPr i="0" sz="1066" b="1">
                <a:solidFill>
                  <a:srgbClr val="000000"/>
                </a:solidFill>
                <a:latin typeface="Montserrat Medium"/>
              </a:rPr>
              <a:t>Visual representation of the location and value behind a visual in all of our timeline's locations.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30954" y="6237982"/>
            <a:ext cx="601414" cy="17130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1">
                <a:solidFill>
                  <a:srgbClr val="000000"/>
                </a:solidFill>
                <a:latin typeface="Montserrat"/>
              </a:defRPr>
            </a:pPr>
            <a:r>
              <a:rPr i="0" sz="1066" b="1">
                <a:solidFill>
                  <a:srgbClr val="000000"/>
                </a:solidFill>
                <a:latin typeface="Montserrat"/>
              </a:rPr>
              <a:t>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54829" y="6237982"/>
            <a:ext cx="319236" cy="17130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0">
                <a:solidFill>
                  <a:srgbClr val="000000"/>
                </a:solidFill>
                <a:latin typeface="Montserrat"/>
              </a:defRPr>
            </a:pPr>
            <a:r>
              <a:rPr i="0" sz="1066" b="0">
                <a:solidFill>
                  <a:srgbClr val="000000"/>
                </a:solidFill>
                <a:latin typeface="Montserrat"/>
              </a:rPr>
              <a:t>We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4825" y="485775"/>
            <a:ext cx="9974014" cy="5715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7200"/>
              </a:lnSpc>
              <a:defRPr spc="-41" i="0" sz="4200" b="0">
                <a:solidFill>
                  <a:srgbClr val="000000"/>
                </a:solidFill>
                <a:latin typeface="Anton"/>
              </a:defRPr>
            </a:pPr>
            <a:r>
              <a:rPr i="0" sz="4200" b="0">
                <a:solidFill>
                  <a:srgbClr val="000000"/>
                </a:solidFill>
                <a:latin typeface="Anton"/>
              </a:rPr>
              <a:t>Quick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825" y="1076325"/>
            <a:ext cx="9715946" cy="5905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7200"/>
              </a:lnSpc>
              <a:defRPr spc="-41" i="0" sz="4200" b="0">
                <a:solidFill>
                  <a:srgbClr val="5F4F9B"/>
                </a:solidFill>
                <a:latin typeface="Anton"/>
              </a:defRPr>
            </a:pPr>
            <a:r>
              <a:rPr i="0" sz="4200" b="0">
                <a:solidFill>
                  <a:srgbClr val="5F4F9B"/>
                </a:solidFill>
                <a:latin typeface="Anton"/>
              </a:rPr>
              <a:t>Efficient Workflow </a:t>
            </a:r>
            <a:r>
              <a:rPr i="0" sz="4200" b="0">
                <a:solidFill>
                  <a:srgbClr val="5F4F9B"/>
                </a:solidFill>
                <a:latin typeface="Anton"/>
              </a:rPr>
              <a:t>&amp;</a:t>
            </a:r>
            <a:r>
              <a:rPr i="0" sz="4200" b="0">
                <a:solidFill>
                  <a:srgbClr val="5F4F9B"/>
                </a:solidFill>
                <a:latin typeface="Anton"/>
              </a:rPr>
              <a:t> Assistance}}</a:t>
            </a:r>
          </a:p>
          <a:p>
            <a:pPr>
              <a:lnSpc>
                <a:spcPct val="87200"/>
              </a:lnSpc>
              <a:defRPr spc="-41" i="0" sz="4200" b="0">
                <a:solidFill>
                  <a:srgbClr val="5F4F9B"/>
                </a:solidFill>
                <a:latin typeface="Anton"/>
              </a:defRPr>
            </a:pPr>
            <a:r>
              <a:rPr i="0" sz="4200" b="0">
                <a:solidFill>
                  <a:srgbClr val="5F4F9B"/>
                </a:solidFill>
                <a:latin typeface="Anton"/>
              </a:rPr>
              <a:t>**Tool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825" y="1704975"/>
            <a:ext cx="9972675" cy="854868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pc="8" i="0" sz="1350" b="1">
                <a:solidFill>
                  <a:srgbClr val="000000"/>
                </a:solidFill>
                <a:latin typeface="Montserrat Medium"/>
              </a:defRPr>
            </a:pPr>
            <a:r>
              <a:rPr i="0" sz="1350" b="1">
                <a:solidFill>
                  <a:srgbClr val="000000"/>
                </a:solidFill>
                <a:latin typeface="Montserrat Medium"/>
              </a:rPr>
              <a:t>Leverage streamlined capabilities for enhanced productivity and faster response cycles.</a:t>
            </a:r>
          </a:p>
          <a:p>
            <a:pPr>
              <a:lnSpc>
                <a:spcPct val="112000"/>
              </a:lnSpc>
              <a:defRPr spc="8" i="0" sz="1350" b="1">
                <a:solidFill>
                  <a:srgbClr val="000000"/>
                </a:solidFill>
                <a:latin typeface="Montserrat Medium"/>
              </a:defRPr>
            </a:pPr>
            <a:r>
              <a:rPr i="0" sz="1350" b="1">
                <a:solidFill>
                  <a:srgbClr val="000000"/>
                </a:solidFill>
                <a:latin typeface="Montserrat Medium"/>
              </a:rPr>
              <a:t>A comprehensive set of tools designed to empower you with greater efficiency and reduced operational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6238875"/>
            <a:ext cx="847725" cy="1905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4" b="0">
                <a:solidFill>
                  <a:srgbClr val="000000"/>
                </a:solidFill>
                <a:latin typeface="Montserrat"/>
              </a:defRPr>
            </a:pPr>
            <a:r>
              <a:rPr i="0" sz="1064" b="1">
                <a:solidFill>
                  <a:srgbClr val="000000"/>
                </a:solidFill>
                <a:latin typeface="Montserrat"/>
              </a:rPr>
              <a:t>Limited</a:t>
            </a:r>
          </a:p>
        </p:txBody>
      </p:sp>
      <p:sp>
        <p:nvSpPr>
          <p:cNvPr id="6" name="Oval 5"/>
          <p:cNvSpPr/>
          <p:nvPr/>
        </p:nvSpPr>
        <p:spPr>
          <a:xfrm>
            <a:off x="428922" y="2790825"/>
            <a:ext cx="4886325" cy="732085"/>
          </a:xfrm>
          <a:prstGeom prst="ellipse">
            <a:avLst/>
          </a:prstGeom>
          <a:solidFill>
            <a:srgbClr val="F0EEF8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231" y="2972692"/>
            <a:ext cx="4905375" cy="361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pc="10" i="0" sz="1875" b="1">
                <a:solidFill>
                  <a:srgbClr val="000000"/>
                </a:solidFill>
                <a:latin typeface="Montserrat Semi"/>
              </a:defRPr>
            </a:pPr>
            <a:r>
              <a:rPr i="0" sz="1875" b="1">
                <a:solidFill>
                  <a:srgbClr val="000000"/>
                </a:solidFill>
                <a:latin typeface="Montserrat Semi"/>
              </a:rPr>
              <a:t>Quick Access</a:t>
            </a:r>
          </a:p>
        </p:txBody>
      </p:sp>
      <p:sp>
        <p:nvSpPr>
          <p:cNvPr id="8" name="Oval 7"/>
          <p:cNvSpPr/>
          <p:nvPr/>
        </p:nvSpPr>
        <p:spPr>
          <a:xfrm>
            <a:off x="5813375" y="2801540"/>
            <a:ext cx="4972050" cy="742950"/>
          </a:xfrm>
          <a:prstGeom prst="ellipse">
            <a:avLst/>
          </a:prstGeom>
          <a:solidFill>
            <a:srgbClr val="F0EEF8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4091" y="3015853"/>
            <a:ext cx="4991100" cy="361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pc="10" i="0" sz="1875" b="1">
                <a:solidFill>
                  <a:srgbClr val="000000"/>
                </a:solidFill>
                <a:latin typeface="Montserrat Semi"/>
              </a:defRPr>
            </a:pPr>
            <a:r>
              <a:rPr i="0" sz="1875" b="1">
                <a:solidFill>
                  <a:srgbClr val="000000"/>
                </a:solidFill>
                <a:latin typeface="Montserrat Semi"/>
              </a:rPr>
              <a:t>Quick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490" y="3682900"/>
            <a:ext cx="3733800" cy="361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3600"/>
              </a:lnSpc>
              <a:defRPr spc="12" i="0" sz="1064" b="0">
                <a:solidFill>
                  <a:srgbClr val="000000"/>
                </a:solidFill>
                <a:latin typeface="Montserrat"/>
              </a:defRPr>
            </a:pPr>
            <a:r>
              <a:rPr i="0" sz="1064" b="0">
                <a:solidFill>
                  <a:srgbClr val="000000"/>
                </a:solidFill>
                <a:latin typeface="Montserrat"/>
              </a:rPr>
              <a:t>'Built-in Agent' - API Client: To assist with generating dynamic content.  Allows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3083" y="3682900"/>
            <a:ext cx="3733800" cy="361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3600"/>
              </a:lnSpc>
              <a:defRPr spc="12" i="0" sz="1064" b="0">
                <a:solidFill>
                  <a:srgbClr val="000000"/>
                </a:solidFill>
                <a:latin typeface="Montserrat"/>
              </a:defRPr>
            </a:pPr>
            <a:r>
              <a:rPr i="0" sz="1064" b="0">
                <a:solidFill>
                  <a:srgbClr val="000000"/>
                </a:solidFill>
                <a:latin typeface="Montserrat"/>
              </a:rPr>
              <a:t>'CLI + skill' - For deployment and ongoing system maintenance.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490" y="4403526"/>
            <a:ext cx="3733800" cy="361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3600"/>
              </a:lnSpc>
              <a:defRPr spc="12" i="0" sz="1064" b="0">
                <a:solidFill>
                  <a:srgbClr val="000000"/>
                </a:solidFill>
                <a:latin typeface="Montserrat"/>
              </a:defRPr>
            </a:pPr>
            <a:r>
              <a:rPr i="0" sz="1064" b="0">
                <a:solidFill>
                  <a:srgbClr val="000000"/>
                </a:solidFill>
                <a:latin typeface="Montserrat"/>
              </a:rPr>
              <a:t>System Integration, Automated Monitoring </a:t>
            </a:r>
            <a:r>
              <a:rPr i="0" sz="1064" b="0">
                <a:solidFill>
                  <a:srgbClr val="000000"/>
                </a:solidFill>
                <a:latin typeface="Montserrat"/>
              </a:rPr>
              <a:t>&amp;</a:t>
            </a:r>
            <a:r>
              <a:rPr i="0" sz="1064" b="0">
                <a:solidFill>
                  <a:srgbClr val="000000"/>
                </a:solidFill>
                <a:latin typeface="Montserrat"/>
              </a:rPr>
              <a:t> Reporting. Ensure optimal functionality</a:t>
            </a:r>
          </a:p>
          <a:p>
            <a:pPr>
              <a:lnSpc>
                <a:spcPct val="113600"/>
              </a:lnSpc>
              <a:defRPr spc="12" i="0" sz="1064" b="0">
                <a:solidFill>
                  <a:srgbClr val="000000"/>
                </a:solidFill>
                <a:latin typeface="Montserrat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33083" y="4403526"/>
            <a:ext cx="3733800" cy="361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3600"/>
              </a:lnSpc>
              <a:defRPr spc="12" i="0" sz="1064" b="0">
                <a:solidFill>
                  <a:srgbClr val="000000"/>
                </a:solidFill>
                <a:latin typeface="Montserrat"/>
              </a:defRPr>
            </a:pPr>
            <a:r>
              <a:rPr i="0" sz="1064" b="0">
                <a:solidFill>
                  <a:srgbClr val="000000"/>
                </a:solidFill>
                <a:latin typeface="Montserrat"/>
              </a:rPr>
              <a:t>Automated Management of Resources. Minimising manual intervention.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490" y="5124152"/>
            <a:ext cx="3733800" cy="361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3600"/>
              </a:lnSpc>
              <a:defRPr spc="12" i="0" sz="1064" b="0">
                <a:solidFill>
                  <a:srgbClr val="000000"/>
                </a:solidFill>
                <a:latin typeface="Montserrat"/>
              </a:defRPr>
            </a:pPr>
            <a:r>
              <a:rPr i="0" sz="1064" b="0">
                <a:solidFill>
                  <a:srgbClr val="000000"/>
                </a:solidFill>
                <a:latin typeface="Montserrat"/>
              </a:rPr>
              <a:t>'Developed tools for an extended life, and future growth to accommodate expanded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083" y="5124152"/>
            <a:ext cx="3733800" cy="361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3600"/>
              </a:lnSpc>
              <a:defRPr spc="12" i="0" sz="1064" b="0">
                <a:solidFill>
                  <a:srgbClr val="000000"/>
                </a:solidFill>
                <a:latin typeface="Montserrat"/>
              </a:defRPr>
            </a:pPr>
            <a:r>
              <a:rPr i="0" sz="1064" b="0">
                <a:solidFill>
                  <a:srgbClr val="000000"/>
                </a:solidFill>
                <a:latin typeface="Montserrat"/>
              </a:rPr>
              <a:t>The framework is fully built on the current infrastructure which allows continuous,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490" y="5844778"/>
            <a:ext cx="3733800" cy="361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3600"/>
              </a:lnSpc>
              <a:defRPr spc="12" i="0" sz="1064" b="0">
                <a:solidFill>
                  <a:srgbClr val="000000"/>
                </a:solidFill>
                <a:latin typeface="Montserrat"/>
              </a:defRPr>
            </a:pPr>
            <a:r>
              <a:rPr i="0" sz="1064" b="0">
                <a:solidFill>
                  <a:srgbClr val="000000"/>
                </a:solidFill>
                <a:latin typeface="Montserrat"/>
              </a:rPr>
              <a:t>`The system has been extensively designed for optimized performance. It may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3083" y="5844778"/>
            <a:ext cx="3733800" cy="361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3600"/>
              </a:lnSpc>
              <a:defRPr spc="12" i="0" sz="1064" b="0">
                <a:solidFill>
                  <a:srgbClr val="000000"/>
                </a:solidFill>
                <a:latin typeface="Montserrat"/>
              </a:defRPr>
            </a:pPr>
            <a:r>
              <a:rPr i="0" sz="1064" b="0">
                <a:solidFill>
                  <a:srgbClr val="000000"/>
                </a:solidFill>
                <a:latin typeface="Montserrat"/>
              </a:rPr>
              <a:t>Maintain performance and scalability over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dca5e57-1f20-46c1-8caf-bcb7ba94c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654" y="5486400"/>
            <a:ext cx="5766345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7950" y="488900"/>
            <a:ext cx="6389042" cy="116993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7200"/>
              </a:lnSpc>
              <a:defRPr spc="-41" i="0" sz="4199" b="1">
                <a:solidFill>
                  <a:srgbClr val="000000"/>
                </a:solidFill>
                <a:latin typeface="Anton"/>
              </a:defRPr>
            </a:pPr>
            <a:r>
              <a:rPr i="0" sz="4199" b="1">
                <a:solidFill>
                  <a:srgbClr val="000000"/>
                </a:solidFill>
                <a:latin typeface="Anton"/>
              </a:rPr>
              <a:t>Resource Group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50" y="1867346"/>
            <a:ext cx="6190357" cy="46136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pc="8" i="0" sz="1333" b="1">
                <a:solidFill>
                  <a:srgbClr val="000000"/>
                </a:solidFill>
                <a:latin typeface="Montserrat Medium"/>
              </a:defRPr>
            </a:pPr>
            <a:r>
              <a:rPr i="0" sz="1333" b="1">
                <a:solidFill>
                  <a:srgbClr val="000000"/>
                </a:solidFill>
                <a:latin typeface="Montserrat Medium"/>
              </a:rPr>
              <a:t>Creating a resource group using the prototype CLI is essential because it acts as a foundation for organizing your development.</a:t>
            </a:r>
          </a:p>
        </p:txBody>
      </p:sp>
      <p:sp>
        <p:nvSpPr>
          <p:cNvPr id="5" name="Oval 4"/>
          <p:cNvSpPr/>
          <p:nvPr/>
        </p:nvSpPr>
        <p:spPr>
          <a:xfrm>
            <a:off x="507950" y="2794396"/>
            <a:ext cx="4819650" cy="1019175"/>
          </a:xfrm>
          <a:prstGeom prst="ellipse">
            <a:avLst/>
          </a:prstGeom>
          <a:solidFill>
            <a:srgbClr val="F8F7F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2982b5a1-c20a-484c-b24b-ba97b1bbdc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50" y="2794396"/>
            <a:ext cx="514350" cy="1019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29022" y="2913310"/>
            <a:ext cx="3641973" cy="27711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pc="9" i="0" sz="1599" b="1">
                <a:solidFill>
                  <a:srgbClr val="000000"/>
                </a:solidFill>
                <a:latin typeface="Montserrat"/>
              </a:defRPr>
            </a:pPr>
            <a:r>
              <a:rPr i="0" sz="1599" b="1">
                <a:solidFill>
                  <a:srgbClr val="000000"/>
                </a:solidFill>
                <a:latin typeface="Montserrat"/>
              </a:rPr>
              <a:t>Required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9022" y="3281362"/>
            <a:ext cx="4113460" cy="36611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defRPr spc="6" i="0" sz="1066" b="0">
                <a:solidFill>
                  <a:srgbClr val="000000"/>
                </a:solidFill>
                <a:latin typeface="Montserrat"/>
              </a:defRPr>
            </a:pPr>
            <a:r>
              <a:rPr i="0" sz="1066" b="0">
                <a:solidFill>
                  <a:srgbClr val="000000"/>
                </a:solidFill>
                <a:latin typeface="Montserrat"/>
              </a:rPr>
              <a:t>Complete these steps following these guidelines to establish and manage resource groups easily</a:t>
            </a:r>
          </a:p>
        </p:txBody>
      </p:sp>
      <p:sp>
        <p:nvSpPr>
          <p:cNvPr id="9" name="Oval 8"/>
          <p:cNvSpPr/>
          <p:nvPr/>
        </p:nvSpPr>
        <p:spPr>
          <a:xfrm>
            <a:off x="507950" y="4016722"/>
            <a:ext cx="4819650" cy="1019175"/>
          </a:xfrm>
          <a:prstGeom prst="ellipse">
            <a:avLst/>
          </a:prstGeom>
          <a:solidFill>
            <a:srgbClr val="F8F7F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0" name="Picture 9" descr="aa8e67fa-d5fd-48a5-b029-1982f2c675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50" y="4016722"/>
            <a:ext cx="514350" cy="10191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29022" y="4135635"/>
            <a:ext cx="3641973" cy="27711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pc="9" i="0" sz="1599" b="1">
                <a:solidFill>
                  <a:srgbClr val="000000"/>
                </a:solidFill>
                <a:latin typeface="Montserrat"/>
              </a:defRPr>
            </a:pPr>
            <a:r>
              <a:rPr i="0" sz="1599" b="1">
                <a:solidFill>
                  <a:srgbClr val="000000"/>
                </a:solidFill>
                <a:latin typeface="Montserrat"/>
              </a:rPr>
              <a:t>Set the Group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9022" y="4503687"/>
            <a:ext cx="4113460" cy="36611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defRPr spc="6" i="0" sz="1066" b="0">
                <a:solidFill>
                  <a:srgbClr val="000000"/>
                </a:solidFill>
                <a:latin typeface="Montserrat"/>
              </a:defRPr>
            </a:pPr>
            <a:r>
              <a:rPr i="0" sz="1066" b="0">
                <a:solidFill>
                  <a:srgbClr val="000000"/>
                </a:solidFill>
                <a:latin typeface="Montserrat"/>
              </a:rPr>
              <a:t>Name your group according to a meaningful name that reflects the business purpose.</a:t>
            </a:r>
          </a:p>
        </p:txBody>
      </p:sp>
      <p:pic>
        <p:nvPicPr>
          <p:cNvPr id="13" name="Picture 12" descr="654d42c0-11bd-4827-9dd5-7024f25ddb4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4200" y="2609850"/>
            <a:ext cx="4619625" cy="3143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9690" y="6242298"/>
            <a:ext cx="601414" cy="17130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1">
                <a:solidFill>
                  <a:srgbClr val="000000"/>
                </a:solidFill>
                <a:latin typeface="Montserrat"/>
              </a:defRPr>
            </a:pPr>
            <a:r>
              <a:rPr i="0" sz="1066" b="1">
                <a:solidFill>
                  <a:srgbClr val="000000"/>
                </a:solidFill>
                <a:latin typeface="Montserrat"/>
              </a:rPr>
              <a:t>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3714" y="6242298"/>
            <a:ext cx="319236" cy="17130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0">
                <a:solidFill>
                  <a:srgbClr val="000000"/>
                </a:solidFill>
                <a:latin typeface="Montserrat"/>
              </a:defRPr>
            </a:pPr>
            <a:r>
              <a:rPr i="0" sz="1066" b="0">
                <a:solidFill>
                  <a:srgbClr val="000000"/>
                </a:solidFill>
                <a:latin typeface="Montserrat"/>
              </a:rPr>
              <a:t>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7950" y="488900"/>
            <a:ext cx="5641925" cy="116993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7200"/>
              </a:lnSpc>
              <a:defRPr spc="-41" i="0" sz="4199" b="1">
                <a:solidFill>
                  <a:srgbClr val="000000"/>
                </a:solidFill>
                <a:latin typeface="Anton"/>
              </a:defRPr>
            </a:pPr>
            <a:r>
              <a:rPr i="0" sz="4199" b="1">
                <a:solidFill>
                  <a:srgbClr val="000000"/>
                </a:solidFill>
                <a:latin typeface="Anton"/>
              </a:rPr>
              <a:t>Every product needs two front doors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50" y="1867346"/>
            <a:ext cx="5536852" cy="793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pc="8" i="0" sz="1333" b="1">
                <a:solidFill>
                  <a:srgbClr val="000000"/>
                </a:solidFill>
                <a:latin typeface="Montserrat Medium"/>
              </a:defRPr>
            </a:pPr>
            <a:r>
              <a:rPr i="0" sz="1333" b="1">
                <a:solidFill>
                  <a:srgbClr val="000000"/>
                </a:solidFill>
                <a:latin typeface="Montserrat Medium"/>
              </a:rPr>
              <a:t>every product requires two front doors for access for people and AI components</a:t>
            </a:r>
          </a:p>
        </p:txBody>
      </p:sp>
      <p:pic>
        <p:nvPicPr>
          <p:cNvPr id="4" name="Picture 3" descr="ed16602c-4a30-4f08-ac8e-b1c984f323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55" y="3092350"/>
            <a:ext cx="848617" cy="8472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3555" y="3325713"/>
            <a:ext cx="714375" cy="361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defRPr spc="10" i="0" sz="1866" b="1">
                <a:solidFill>
                  <a:srgbClr val="5F4F9B"/>
                </a:solidFill>
                <a:latin typeface="Montserrat"/>
              </a:defRPr>
            </a:pPr>
            <a:r>
              <a:rPr i="0" sz="1866" b="1">
                <a:solidFill>
                  <a:srgbClr val="5F4F9B"/>
                </a:solidFill>
                <a:latin typeface="Montserrat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666" y="3221682"/>
            <a:ext cx="4204096" cy="6603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defRPr spc="6" i="0" sz="1066" b="0">
                <a:solidFill>
                  <a:srgbClr val="000000"/>
                </a:solidFill>
                <a:latin typeface="Montserrat"/>
              </a:defRPr>
            </a:pPr>
            <a:r>
              <a:rPr i="0" sz="1066" b="0">
                <a:solidFill>
                  <a:srgbClr val="000000"/>
                </a:solidFill>
                <a:latin typeface="Montserrat"/>
              </a:rPr>
              <a:t>Data requirements for every platform user account across three stages, defined as high, medium, low</a:t>
            </a:r>
          </a:p>
        </p:txBody>
      </p:sp>
      <p:pic>
        <p:nvPicPr>
          <p:cNvPr id="7" name="Picture 6" descr="81c648d9-ab53-4eb2-910d-181fb38f15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55" y="4248596"/>
            <a:ext cx="848617" cy="8472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3555" y="4481958"/>
            <a:ext cx="714375" cy="361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defRPr spc="10" i="0" sz="1866" b="1">
                <a:solidFill>
                  <a:srgbClr val="5F4F9B"/>
                </a:solidFill>
                <a:latin typeface="Montserrat"/>
              </a:defRPr>
            </a:pPr>
            <a:r>
              <a:rPr i="0" sz="1866" b="1">
                <a:solidFill>
                  <a:srgbClr val="5F4F9B"/>
                </a:solidFill>
                <a:latin typeface="Montserrat"/>
              </a:rPr>
              <a:t>core_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666" y="4377928"/>
            <a:ext cx="4204096" cy="6603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defRPr spc="6" i="0" sz="1066" b="0">
                <a:solidFill>
                  <a:srgbClr val="000000"/>
                </a:solidFill>
                <a:latin typeface="Montserrat"/>
              </a:defRPr>
            </a:pPr>
            <a:r>
              <a:rPr i="0" sz="1066" b="0">
                <a:solidFill>
                  <a:srgbClr val="000000"/>
                </a:solidFill>
                <a:latin typeface="Montserrat"/>
              </a:rPr>
              <a:t>This is the essential set of features and values required on this slide to fulfill the user’s core experience, detailed description of which is included in slide's core.</a:t>
            </a:r>
          </a:p>
        </p:txBody>
      </p:sp>
      <p:pic>
        <p:nvPicPr>
          <p:cNvPr id="10" name="Picture 9" descr="f89d9fa5-3d96-4114-9fa2-ea04e15091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670" y="444400"/>
            <a:ext cx="5190380" cy="58120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30954" y="6237982"/>
            <a:ext cx="601414" cy="17130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1">
                <a:solidFill>
                  <a:srgbClr val="000000"/>
                </a:solidFill>
                <a:latin typeface="Montserrat"/>
              </a:defRPr>
            </a:pPr>
            <a:r>
              <a:rPr i="0" sz="1066" b="1">
                <a:solidFill>
                  <a:srgbClr val="000000"/>
                </a:solidFill>
                <a:latin typeface="Montserrat"/>
              </a:rPr>
              <a:t>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54829" y="6237982"/>
            <a:ext cx="319236" cy="17130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0">
                <a:solidFill>
                  <a:srgbClr val="000000"/>
                </a:solidFill>
                <a:latin typeface="Montserrat"/>
              </a:defRPr>
            </a:pPr>
            <a:r>
              <a:rPr i="0" sz="1066" b="0">
                <a:solidFill>
                  <a:srgbClr val="000000"/>
                </a:solidFill>
                <a:latin typeface="Montserra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7F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70fb5c35-7523-4a4f-9938-23c8ea73d5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4000"/>
            <a:ext cx="3954363" cy="1524000"/>
          </a:xfrm>
          <a:prstGeom prst="rect">
            <a:avLst/>
          </a:prstGeom>
        </p:spPr>
      </p:pic>
      <p:pic>
        <p:nvPicPr>
          <p:cNvPr id="4" name="Picture 3" descr="afb316c3-45ec-4f1b-873b-fc20106fb7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22192"/>
            <a:ext cx="3426023" cy="19358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4825" y="485775"/>
            <a:ext cx="5543550" cy="1181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7200"/>
              </a:lnSpc>
              <a:defRPr spc="-41" i="0" sz="4199" b="1">
                <a:solidFill>
                  <a:srgbClr val="000000"/>
                </a:solidFill>
                <a:latin typeface="Anton"/>
              </a:defRPr>
            </a:pPr>
            <a:r>
              <a:rPr i="0" sz="4199" b="1">
                <a:solidFill>
                  <a:srgbClr val="000000"/>
                </a:solidFill>
                <a:latin typeface="Anton"/>
              </a:rPr>
              <a:t>Ship The AI Manual With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825" y="1866900"/>
            <a:ext cx="5543550" cy="2175123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pc="8" i="0" sz="1333" b="1">
                <a:solidFill>
                  <a:srgbClr val="000000"/>
                </a:solidFill>
                <a:latin typeface="Montserrat Medium"/>
              </a:defRPr>
            </a:pPr>
            <a:r>
              <a:rPr i="0" sz="1333" b="1">
                <a:solidFill>
                  <a:srgbClr val="000000"/>
                </a:solidFill>
                <a:latin typeface="Montserrat Medium"/>
              </a:rPr>
              <a:t>Navigate to streamline efficient workflows, ensuring comprehensive protocols are addressed.</a:t>
            </a:r>
          </a:p>
        </p:txBody>
      </p:sp>
      <p:pic>
        <p:nvPicPr>
          <p:cNvPr id="7" name="Picture 6" descr="993bdc6c-22e2-4d98-9afa-769ad886f8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1609725"/>
            <a:ext cx="2219325" cy="2219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63978" y="2390775"/>
            <a:ext cx="1151185" cy="4095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pc="25" i="0" sz="2332" b="1">
                <a:solidFill>
                  <a:srgbClr val="FFFFFF"/>
                </a:solidFill>
                <a:latin typeface="Montserrat"/>
              </a:defRPr>
            </a:pPr>
            <a:r>
              <a:rPr i="0" sz="2332" b="1">
                <a:solidFill>
                  <a:srgbClr val="FFFFFF"/>
                </a:solidFill>
                <a:latin typeface="Montserrat"/>
              </a:rPr>
              <a:t>Agent-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6575" y="2781300"/>
            <a:ext cx="1504950" cy="34796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defRPr spc="4" i="0" sz="800" b="1">
                <a:solidFill>
                  <a:srgbClr val="FFFFFF"/>
                </a:solidFill>
                <a:latin typeface="Montserrat Medium"/>
              </a:defRPr>
            </a:pPr>
            <a:r>
              <a:rPr i="0" sz="800" b="1">
                <a:solidFill>
                  <a:srgbClr val="FFFFFF"/>
                </a:solidFill>
                <a:latin typeface="Montserrat Medium"/>
              </a:rPr>
              <a:t>Improving efficacy </a:t>
            </a:r>
            <a:r>
              <a:rPr i="0" sz="800" b="1">
                <a:solidFill>
                  <a:srgbClr val="FFFFFF"/>
                </a:solidFill>
                <a:latin typeface="Montserrat Medium"/>
              </a:rPr>
              <a:t>&amp;</a:t>
            </a:r>
            <a:r>
              <a:rPr i="0" sz="800" b="1">
                <a:solidFill>
                  <a:srgbClr val="FFFFFF"/>
                </a:solidFill>
                <a:latin typeface="Montserrat Medium"/>
              </a:rPr>
              <a:t> Agent efficiency</a:t>
            </a:r>
          </a:p>
        </p:txBody>
      </p:sp>
      <p:pic>
        <p:nvPicPr>
          <p:cNvPr id="10" name="Picture 9" descr="d8611a67-2eff-4f33-a10e-6c96d57f1b6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0" y="1647825"/>
            <a:ext cx="2905125" cy="29051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701361" y="2771775"/>
            <a:ext cx="1172914" cy="4095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pc="25" i="0" sz="2332" b="1">
                <a:solidFill>
                  <a:srgbClr val="FFFFFF"/>
                </a:solidFill>
                <a:latin typeface="Montserrat"/>
              </a:defRPr>
            </a:pPr>
            <a:r>
              <a:rPr i="0" sz="2332" b="1">
                <a:solidFill>
                  <a:srgbClr val="FFFFFF"/>
                </a:solidFill>
                <a:latin typeface="Montserrat"/>
              </a:rPr>
              <a:t>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63100" y="3171825"/>
            <a:ext cx="1504950" cy="33724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defRPr spc="4" i="0" sz="800" b="1">
                <a:solidFill>
                  <a:srgbClr val="FFFFFF"/>
                </a:solidFill>
                <a:latin typeface="Montserrat Medium"/>
              </a:defRPr>
            </a:pPr>
            <a:r>
              <a:rPr i="0" sz="800" b="1">
                <a:solidFill>
                  <a:srgbClr val="FFFFFF"/>
                </a:solidFill>
                <a:latin typeface="Montserrat Medium"/>
              </a:rPr>
              <a:t>Improved Efficiency by 10%</a:t>
            </a:r>
          </a:p>
        </p:txBody>
      </p:sp>
      <p:pic>
        <p:nvPicPr>
          <p:cNvPr id="13" name="Picture 12" descr="55c85b16-fda8-412b-aff5-029d6407067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3725" y="3867150"/>
            <a:ext cx="2466975" cy="2466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16428" y="4733925"/>
            <a:ext cx="1259532" cy="4095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pc="25" i="0" sz="2332" b="1">
                <a:solidFill>
                  <a:srgbClr val="FFFFFF"/>
                </a:solidFill>
                <a:latin typeface="Montserrat"/>
              </a:defRPr>
            </a:pPr>
            <a:r>
              <a:rPr i="0" sz="2332" b="1">
                <a:solidFill>
                  <a:srgbClr val="FFFFFF"/>
                </a:solidFill>
                <a:latin typeface="Montserrat"/>
              </a:rP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9025" y="5143500"/>
            <a:ext cx="1504950" cy="3048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defRPr spc="4" i="0" sz="800" b="1">
                <a:solidFill>
                  <a:srgbClr val="FFFFFF"/>
                </a:solidFill>
                <a:latin typeface="Montserrat Medium"/>
              </a:defRPr>
            </a:pPr>
            <a:r>
              <a:rPr i="0" sz="800" b="1">
                <a:solidFill>
                  <a:srgbClr val="FFFFFF"/>
                </a:solidFill>
                <a:latin typeface="Montserrat Medium"/>
              </a:rPr>
              <a:t>Current Agent Efficiency 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500" y="6238875"/>
            <a:ext cx="600075" cy="1714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1">
                <a:solidFill>
                  <a:srgbClr val="000000"/>
                </a:solidFill>
                <a:latin typeface="Montserrat"/>
              </a:defRPr>
            </a:pPr>
            <a:r>
              <a:rPr i="0" sz="1066" b="1">
                <a:solidFill>
                  <a:srgbClr val="000000"/>
                </a:solidFill>
                <a:latin typeface="Montserrat"/>
              </a:rPr>
              <a:t>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2375" y="6238875"/>
            <a:ext cx="323850" cy="1714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defRPr spc="6" i="0" sz="1066" b="0">
                <a:solidFill>
                  <a:srgbClr val="000000"/>
                </a:solidFill>
                <a:latin typeface="Montserrat"/>
              </a:defRPr>
            </a:pPr>
            <a:r>
              <a:rPr i="0" sz="1066" b="0">
                <a:solidFill>
                  <a:srgbClr val="000000"/>
                </a:solidFill>
                <a:latin typeface="Montserrat"/>
              </a:rPr>
              <a:t>),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